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embeddedFontLst>
    <p:embeddedFont>
      <p:font typeface="Oswald Light"/>
      <p:regular r:id="rId201314"/>
    </p:embeddedFont>
    <p:embeddedFont>
      <p:font typeface="Oswald"/>
      <p:regular r:id="rId201315"/>
    </p:embeddedFont>
    <p:embeddedFont>
      <p:font typeface="Oswald Bold"/>
      <p:regular r:id="rId201316"/>
    </p:embeddedFont>
    <p:embeddedFont>
      <p:font typeface="Oswald Medium"/>
      <p:regular r:id="rId201317"/>
    </p:embeddedFont>
    <p:embeddedFont>
      <p:font typeface="Oswald SemiBold"/>
      <p:regular r:id="rId201318"/>
    </p:embeddedFont>
    <p:embeddedFont>
      <p:font typeface="Inter Light"/>
      <p:regular r:id="rId201321"/>
    </p:embeddedFont>
    <p:embeddedFont>
      <p:font typeface="Inter"/>
      <p:regular r:id="rId201322"/>
    </p:embeddedFont>
    <p:embeddedFont>
      <p:font typeface="Inter SemiBold"/>
      <p:regular r:id="rId201323"/>
    </p:embeddedFont>
    <p:embeddedFont>
      <p:font typeface="Inter Black"/>
      <p:regular r:id="rId20132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jpeg"/><Relationship Id="rId3" Type="http://schemas.openxmlformats.org/officeDocument/2006/relationships/image" Target="../media/image-1002-3.png"/><Relationship Id="rId5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3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4-2.jpeg"/><Relationship Id="rId3" Type="http://schemas.openxmlformats.org/officeDocument/2006/relationships/image" Target="../media/image-1002-3.png"/><Relationship Id="rId5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>
              <a:alpha val="60000"/>
            </a:srgbClr>
          </a:solidFill>
          <a:ln/>
        </p:spPr>
      </p:sp>
      <p:pic>
        <p:nvPicPr>
          <p:cNvPr id="6" name="Image 2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>
              <a:alpha val="55000"/>
            </a:srgbClr>
          </a:solidFill>
          <a:ln/>
        </p:spPr>
      </p:sp>
      <p:pic>
        <p:nvPicPr>
          <p:cNvPr id="6" name="Image 2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7.png"/><Relationship Id="rId10" Type="http://schemas.openxmlformats.org/officeDocument/2006/relationships/image" Target="../media/image-2-8.svg"/><Relationship Id="rId11" Type="http://schemas.openxmlformats.org/officeDocument/2006/relationships/image" Target="../media/image-2-7.png"/><Relationship Id="rId12" Type="http://schemas.openxmlformats.org/officeDocument/2006/relationships/image" Target="../media/image-2-8.svg"/><Relationship Id="rId13" Type="http://schemas.openxmlformats.org/officeDocument/2006/relationships/slideLayout" Target="../slideLayouts/slideLayout3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55538"/>
            <a:ext cx="1807720" cy="258465"/>
          </a:xfrm>
          <a:prstGeom prst="roundRect">
            <a:avLst>
              <a:gd name="adj" fmla="val 2948"/>
            </a:avLst>
          </a:prstGeom>
          <a:noFill/>
          <a:ln w="6350">
            <a:solidFill>
              <a:srgbClr val="9FA8A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3469" y="706537"/>
            <a:ext cx="2213317" cy="15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9FA8A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IQOO HACKATHON 2026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1475" y="975221"/>
            <a:ext cx="10868745" cy="1754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50" dirty="0">
                <a:solidFill>
                  <a:srgbClr val="C41E3A"/>
                </a:solidFill>
                <a:latin typeface="Oswald Medium" pitchFamily="34" charset="0"/>
                <a:ea typeface="Oswald Medium" pitchFamily="34" charset="-122"/>
                <a:cs typeface="Oswald Medium" pitchFamily="34" charset="-120"/>
              </a:rPr>
              <a:t>SCREENIQ</a:t>
            </a:r>
            <a:endParaRPr lang="en-US" sz="11050" dirty="0"/>
          </a:p>
        </p:txBody>
      </p:sp>
      <p:sp>
        <p:nvSpPr>
          <p:cNvPr id="5" name="Text 3"/>
          <p:cNvSpPr/>
          <p:nvPr/>
        </p:nvSpPr>
        <p:spPr>
          <a:xfrm>
            <a:off x="661475" y="2959100"/>
            <a:ext cx="10868745" cy="467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900" dirty="0">
                <a:solidFill>
                  <a:srgbClr val="FFFFFF"/>
                </a:solidFill>
                <a:latin typeface="Oswald Medium" pitchFamily="34" charset="0"/>
                <a:ea typeface="Oswald Medium" pitchFamily="34" charset="-122"/>
                <a:cs typeface="Oswald Medium" pitchFamily="34" charset="-120"/>
              </a:rPr>
              <a:t>SEE IT. UNDERSTAND IT. DO IT.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356682" y="3656509"/>
            <a:ext cx="11478330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9FA8A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An AI action layer for everything visible on your phone.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61475" y="4129782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DFE2E4">
              <a:alpha val="5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1475" y="4780359"/>
            <a:ext cx="3308664" cy="1005185"/>
          </a:xfrm>
          <a:prstGeom prst="roundRect">
            <a:avLst>
              <a:gd name="adj" fmla="val 758"/>
            </a:avLst>
          </a:prstGeom>
          <a:solidFill>
            <a:srgbClr val="060606"/>
          </a:solidFill>
          <a:ln w="6350">
            <a:solidFill>
              <a:srgbClr val="3E3E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7881" y="4956770"/>
            <a:ext cx="2955851" cy="292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FE2E4"/>
                </a:solidFill>
                <a:latin typeface="Oswald Medium" pitchFamily="34" charset="0"/>
                <a:ea typeface="Oswald Medium" pitchFamily="34" charset="-122"/>
                <a:cs typeface="Oswald Medium" pitchFamily="34" charset="-120"/>
              </a:rPr>
              <a:t>FOR EVENT POSTER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37881" y="5402263"/>
            <a:ext cx="2955851" cy="206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50" dirty="0">
                <a:solidFill>
                  <a:srgbClr val="DFE2E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Date · Time · Venue detected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91411" y="4780359"/>
            <a:ext cx="3421473" cy="1005185"/>
          </a:xfrm>
          <a:prstGeom prst="roundRect">
            <a:avLst>
              <a:gd name="adj" fmla="val 758"/>
            </a:avLst>
          </a:prstGeom>
          <a:solidFill>
            <a:srgbClr val="060606"/>
          </a:solidFill>
          <a:ln w="6350">
            <a:solidFill>
              <a:srgbClr val="3E3E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67818" y="4956770"/>
            <a:ext cx="3068660" cy="292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FE2E4"/>
                </a:solidFill>
                <a:latin typeface="Oswald Medium" pitchFamily="34" charset="0"/>
                <a:ea typeface="Oswald Medium" pitchFamily="34" charset="-122"/>
                <a:cs typeface="Oswald Medium" pitchFamily="34" charset="-120"/>
              </a:rPr>
              <a:t>✦ ADD TO CALENDAR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67818" y="5402263"/>
            <a:ext cx="3068660" cy="206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50" dirty="0">
                <a:solidFill>
                  <a:srgbClr val="DFE2E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One tap. Done.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34157" y="4535785"/>
            <a:ext cx="3308664" cy="670620"/>
          </a:xfrm>
          <a:prstGeom prst="roundRect">
            <a:avLst>
              <a:gd name="adj" fmla="val 1136"/>
            </a:avLst>
          </a:prstGeom>
          <a:solidFill>
            <a:srgbClr val="060606"/>
          </a:solidFill>
          <a:ln w="19050">
            <a:solidFill>
              <a:srgbClr val="3E3E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23263" y="4724896"/>
            <a:ext cx="2930452" cy="292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FE2E4"/>
                </a:solidFill>
                <a:latin typeface="Oswald Medium" pitchFamily="34" charset="0"/>
                <a:ea typeface="Oswald Medium" pitchFamily="34" charset="-122"/>
                <a:cs typeface="Oswald Medium" pitchFamily="34" charset="-120"/>
              </a:rPr>
              <a:t>ADDRESS → MAPS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234157" y="5359499"/>
            <a:ext cx="3308664" cy="670620"/>
          </a:xfrm>
          <a:prstGeom prst="roundRect">
            <a:avLst>
              <a:gd name="adj" fmla="val 1136"/>
            </a:avLst>
          </a:prstGeom>
          <a:solidFill>
            <a:srgbClr val="060606"/>
          </a:solidFill>
          <a:ln w="19050">
            <a:solidFill>
              <a:srgbClr val="3E3E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23263" y="5548610"/>
            <a:ext cx="2930452" cy="292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FE2E4"/>
                </a:solidFill>
                <a:latin typeface="Oswald Medium" pitchFamily="34" charset="0"/>
                <a:ea typeface="Oswald Medium" pitchFamily="34" charset="-122"/>
                <a:cs typeface="Oswald Medium" pitchFamily="34" charset="-120"/>
              </a:rPr>
              <a:t>CONTACT → SAVE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7500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Shape 0"/>
          <p:cNvSpPr/>
          <p:nvPr/>
        </p:nvSpPr>
        <p:spPr>
          <a:xfrm>
            <a:off x="5233360" y="532209"/>
            <a:ext cx="659094" cy="201116"/>
          </a:xfrm>
          <a:prstGeom prst="roundRect">
            <a:avLst>
              <a:gd name="adj" fmla="val 3789"/>
            </a:avLst>
          </a:prstGeom>
          <a:noFill/>
          <a:ln w="6350">
            <a:solidFill>
              <a:srgbClr val="9FA8A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312733" y="571897"/>
            <a:ext cx="1109932" cy="121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9FA8A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PROBLEM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233360" y="770334"/>
            <a:ext cx="6296860" cy="9094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50" dirty="0">
                <a:solidFill>
                  <a:srgbClr val="FFFFFF"/>
                </a:solidFill>
                <a:latin typeface="Oswald Medium" pitchFamily="34" charset="0"/>
                <a:ea typeface="Oswald Medium" pitchFamily="34" charset="-122"/>
                <a:cs typeface="Oswald Medium" pitchFamily="34" charset="-120"/>
              </a:rPr>
              <a:t>WE CAN SEE INFORMATION INSTANTLY.</a:t>
            </a:r>
            <a:endParaRPr lang="en-US" sz="28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2850" dirty="0">
                <a:solidFill>
                  <a:srgbClr val="FFFFFF"/>
                </a:solidFill>
                <a:latin typeface="Oswald Medium" pitchFamily="34" charset="0"/>
                <a:ea typeface="Oswald Medium" pitchFamily="34" charset="-122"/>
                <a:cs typeface="Oswald Medium" pitchFamily="34" charset="-120"/>
              </a:rPr>
              <a:t>ACTING ON IT STILL TAKES WORK.</a:t>
            </a:r>
            <a:endParaRPr lang="en-US" sz="2850" dirty="0"/>
          </a:p>
        </p:txBody>
      </p:sp>
      <p:sp>
        <p:nvSpPr>
          <p:cNvPr id="6" name="Text 3"/>
          <p:cNvSpPr/>
          <p:nvPr/>
        </p:nvSpPr>
        <p:spPr>
          <a:xfrm>
            <a:off x="5233360" y="1902023"/>
            <a:ext cx="3317990" cy="287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800" dirty="0">
                <a:solidFill>
                  <a:srgbClr val="9FA8A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Every time you see something useful on your screen, you repeat the same manual chain:</a:t>
            </a:r>
            <a:endParaRPr lang="en-US" sz="8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3360" y="2294136"/>
            <a:ext cx="661475" cy="79384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987404" y="2426395"/>
            <a:ext cx="2563947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DFE2E4"/>
                </a:solidFill>
                <a:latin typeface="Oswald Medium" pitchFamily="34" charset="0"/>
                <a:ea typeface="Oswald Medium" pitchFamily="34" charset="-122"/>
                <a:cs typeface="Oswald Medium" pitchFamily="34" charset="-120"/>
              </a:rPr>
              <a:t>SEE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5987404" y="2746375"/>
            <a:ext cx="2563947" cy="143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800" dirty="0">
                <a:solidFill>
                  <a:srgbClr val="DFE2E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Event poster · Address · Phone number · URL · QR</a:t>
            </a:r>
            <a:endParaRPr lang="en-US" sz="8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3360" y="3087985"/>
            <a:ext cx="661475" cy="95587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987404" y="3220244"/>
            <a:ext cx="2563947" cy="454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DFE2E4"/>
                </a:solidFill>
                <a:latin typeface="Oswald Medium" pitchFamily="34" charset="0"/>
                <a:ea typeface="Oswald Medium" pitchFamily="34" charset="-122"/>
                <a:cs typeface="Oswald Medium" pitchFamily="34" charset="-120"/>
              </a:rPr>
              <a:t>SCREENSHOT → SHARE → ASK → COPY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5987404" y="3767634"/>
            <a:ext cx="2563947" cy="143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800" dirty="0">
                <a:solidFill>
                  <a:srgbClr val="DFE2E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Switch apps. Repeat.</a:t>
            </a:r>
            <a:endParaRPr lang="en-US" sz="8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3360" y="4043859"/>
            <a:ext cx="661475" cy="79384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987404" y="4176117"/>
            <a:ext cx="2563947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DFE2E4"/>
                </a:solidFill>
                <a:latin typeface="Oswald Medium" pitchFamily="34" charset="0"/>
                <a:ea typeface="Oswald Medium" pitchFamily="34" charset="-122"/>
                <a:cs typeface="Oswald Medium" pitchFamily="34" charset="-120"/>
              </a:rPr>
              <a:t>ACT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5987404" y="4496098"/>
            <a:ext cx="2563947" cy="143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800" dirty="0">
                <a:solidFill>
                  <a:srgbClr val="DFE2E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Finally — after too many steps.</a:t>
            </a:r>
            <a:endParaRPr lang="en-US" sz="8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80352" y="1922859"/>
            <a:ext cx="2656119" cy="91053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107855" y="2074168"/>
            <a:ext cx="2277311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DFE2E4"/>
                </a:solidFill>
                <a:latin typeface="Oswald Medium" pitchFamily="34" charset="0"/>
                <a:ea typeface="Oswald Medium" pitchFamily="34" charset="-122"/>
                <a:cs typeface="Oswald Medium" pitchFamily="34" charset="-120"/>
              </a:rPr>
              <a:t>EVENT POSTER</a:t>
            </a:r>
            <a:endParaRPr lang="en-US" sz="1400" dirty="0"/>
          </a:p>
        </p:txBody>
      </p:sp>
      <p:sp>
        <p:nvSpPr>
          <p:cNvPr id="18" name="Text 11"/>
          <p:cNvSpPr/>
          <p:nvPr/>
        </p:nvSpPr>
        <p:spPr>
          <a:xfrm>
            <a:off x="9107855" y="2394148"/>
            <a:ext cx="2277311" cy="287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800" dirty="0">
                <a:solidFill>
                  <a:srgbClr val="DFE2E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Manually note date, open Calendar, type details</a:t>
            </a:r>
            <a:endParaRPr lang="en-US" sz="8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880352" y="2925961"/>
            <a:ext cx="2656119" cy="766564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9107855" y="3077270"/>
            <a:ext cx="2277311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DFE2E4"/>
                </a:solidFill>
                <a:latin typeface="Oswald Medium" pitchFamily="34" charset="0"/>
                <a:ea typeface="Oswald Medium" pitchFamily="34" charset="-122"/>
                <a:cs typeface="Oswald Medium" pitchFamily="34" charset="-120"/>
              </a:rPr>
              <a:t>ADDRESS</a:t>
            </a:r>
            <a:endParaRPr lang="en-US" sz="1400" dirty="0"/>
          </a:p>
        </p:txBody>
      </p:sp>
      <p:sp>
        <p:nvSpPr>
          <p:cNvPr id="21" name="Text 13"/>
          <p:cNvSpPr/>
          <p:nvPr/>
        </p:nvSpPr>
        <p:spPr>
          <a:xfrm>
            <a:off x="9107855" y="3397250"/>
            <a:ext cx="2277311" cy="143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800" dirty="0">
                <a:solidFill>
                  <a:srgbClr val="DFE2E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Screenshot → copy → open Maps → paste</a:t>
            </a:r>
            <a:endParaRPr lang="en-US" sz="80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880352" y="3785096"/>
            <a:ext cx="2656119" cy="766564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9107855" y="3936405"/>
            <a:ext cx="2277311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DFE2E4"/>
                </a:solidFill>
                <a:latin typeface="Oswald Medium" pitchFamily="34" charset="0"/>
                <a:ea typeface="Oswald Medium" pitchFamily="34" charset="-122"/>
                <a:cs typeface="Oswald Medium" pitchFamily="34" charset="-120"/>
              </a:rPr>
              <a:t>PHONE NUMBER</a:t>
            </a:r>
            <a:endParaRPr lang="en-US" sz="1400" dirty="0"/>
          </a:p>
        </p:txBody>
      </p:sp>
      <p:sp>
        <p:nvSpPr>
          <p:cNvPr id="24" name="Text 15"/>
          <p:cNvSpPr/>
          <p:nvPr/>
        </p:nvSpPr>
        <p:spPr>
          <a:xfrm>
            <a:off x="9107855" y="4256385"/>
            <a:ext cx="2277311" cy="143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800" dirty="0">
                <a:solidFill>
                  <a:srgbClr val="DFE2E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Read → memorise → open Contacts → type</a:t>
            </a:r>
            <a:endParaRPr lang="en-US" sz="80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880352" y="4644231"/>
            <a:ext cx="2656119" cy="766564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9107855" y="4795540"/>
            <a:ext cx="2277311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DFE2E4"/>
                </a:solidFill>
                <a:latin typeface="Oswald Medium" pitchFamily="34" charset="0"/>
                <a:ea typeface="Oswald Medium" pitchFamily="34" charset="-122"/>
                <a:cs typeface="Oswald Medium" pitchFamily="34" charset="-120"/>
              </a:rPr>
              <a:t>TASK / URL / QR</a:t>
            </a:r>
            <a:endParaRPr lang="en-US" sz="1400" dirty="0"/>
          </a:p>
        </p:txBody>
      </p:sp>
      <p:sp>
        <p:nvSpPr>
          <p:cNvPr id="27" name="Text 17"/>
          <p:cNvSpPr/>
          <p:nvPr/>
        </p:nvSpPr>
        <p:spPr>
          <a:xfrm>
            <a:off x="9107855" y="5115520"/>
            <a:ext cx="2277311" cy="143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800" dirty="0">
                <a:solidFill>
                  <a:srgbClr val="DFE2E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Same friction. Every. Single. Time.</a:t>
            </a:r>
            <a:endParaRPr lang="en-US" sz="800" dirty="0"/>
          </a:p>
        </p:txBody>
      </p:sp>
      <p:sp>
        <p:nvSpPr>
          <p:cNvPr id="28" name="Text 18"/>
          <p:cNvSpPr/>
          <p:nvPr/>
        </p:nvSpPr>
        <p:spPr>
          <a:xfrm>
            <a:off x="9078785" y="5598319"/>
            <a:ext cx="2457686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b="1" dirty="0">
                <a:solidFill>
                  <a:srgbClr val="DFE2E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"The information is already on the screen. Why make the user manually move it somewhere else?"</a:t>
            </a:r>
            <a:endParaRPr lang="en-US" sz="1000" dirty="0"/>
          </a:p>
        </p:txBody>
      </p:sp>
      <p:sp>
        <p:nvSpPr>
          <p:cNvPr id="29" name="Shape 19"/>
          <p:cNvSpPr/>
          <p:nvPr/>
        </p:nvSpPr>
        <p:spPr>
          <a:xfrm>
            <a:off x="8880352" y="5514975"/>
            <a:ext cx="19050" cy="706636"/>
          </a:xfrm>
          <a:prstGeom prst="roundRect">
            <a:avLst>
              <a:gd name="adj" fmla="val 49999"/>
            </a:avLst>
          </a:prstGeom>
          <a:solidFill>
            <a:srgbClr val="C41E3A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25000" y="100000"/>
                </a:lnTo>
                <a:close/>
              </a:path>
            </a:pathLst>
          </a:custGeom>
        </p:spPr>
      </p:pic>
      <p:sp>
        <p:nvSpPr>
          <p:cNvPr id="3" name="Shape 0"/>
          <p:cNvSpPr/>
          <p:nvPr/>
        </p:nvSpPr>
        <p:spPr>
          <a:xfrm>
            <a:off x="661475" y="545009"/>
            <a:ext cx="786686" cy="226219"/>
          </a:xfrm>
          <a:prstGeom prst="roundRect">
            <a:avLst>
              <a:gd name="adj" fmla="val 3368"/>
            </a:avLst>
          </a:prstGeom>
          <a:noFill/>
          <a:ln w="6350">
            <a:solidFill>
              <a:srgbClr val="9FA8A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50769" y="589657"/>
            <a:ext cx="1217681" cy="136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9FA8A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SOLUTION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61475" y="818059"/>
            <a:ext cx="6296860" cy="10233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Oswald Medium" pitchFamily="34" charset="0"/>
                <a:ea typeface="Oswald Medium" pitchFamily="34" charset="-122"/>
                <a:cs typeface="Oswald Medium" pitchFamily="34" charset="-120"/>
              </a:rPr>
              <a:t>TURN THE SCREEN INTO AN AI INPUT SURFACE.</a:t>
            </a:r>
            <a:endParaRPr lang="en-US" sz="3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2017216"/>
            <a:ext cx="744221" cy="8930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522870" y="2166045"/>
            <a:ext cx="5435464" cy="255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DFE2E4"/>
                </a:solidFill>
                <a:latin typeface="Oswald Medium" pitchFamily="34" charset="0"/>
                <a:ea typeface="Oswald Medium" pitchFamily="34" charset="-122"/>
                <a:cs typeface="Oswald Medium" pitchFamily="34" charset="-120"/>
              </a:rPr>
              <a:t>FOUR-FINGER GESTURE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1522870" y="2492077"/>
            <a:ext cx="5435464" cy="170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900" dirty="0">
                <a:solidFill>
                  <a:srgbClr val="DFE2E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User triggers ScreenIQ anywhere, instantly</a:t>
            </a:r>
            <a:endParaRPr lang="en-US" sz="9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910284"/>
            <a:ext cx="744221" cy="8930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522870" y="3059113"/>
            <a:ext cx="5435464" cy="255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DFE2E4"/>
                </a:solidFill>
                <a:latin typeface="Oswald Medium" pitchFamily="34" charset="0"/>
                <a:ea typeface="Oswald Medium" pitchFamily="34" charset="-122"/>
                <a:cs typeface="Oswald Medium" pitchFamily="34" charset="-120"/>
              </a:rPr>
              <a:t>SCREEN CAPTURED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1522870" y="3385145"/>
            <a:ext cx="5435464" cy="170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900" dirty="0">
                <a:solidFill>
                  <a:srgbClr val="DFE2E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Current display becomes the AI input</a:t>
            </a:r>
            <a:endParaRPr lang="en-US" sz="9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3803352"/>
            <a:ext cx="744221" cy="89306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522870" y="3952180"/>
            <a:ext cx="5435464" cy="255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DFE2E4"/>
                </a:solidFill>
                <a:latin typeface="Oswald Medium" pitchFamily="34" charset="0"/>
                <a:ea typeface="Oswald Medium" pitchFamily="34" charset="-122"/>
                <a:cs typeface="Oswald Medium" pitchFamily="34" charset="-120"/>
              </a:rPr>
              <a:t>UNDERSTANDS CONTEXT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1522870" y="4278213"/>
            <a:ext cx="5435464" cy="170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900" dirty="0">
                <a:solidFill>
                  <a:srgbClr val="C41E3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EVENT</a:t>
            </a:r>
            <a:pPr algn="l" indent="0" marL="0">
              <a:lnSpc>
                <a:spcPct val="119000"/>
              </a:lnSpc>
              <a:buNone/>
            </a:pPr>
            <a:r>
              <a:rPr lang="en-US" sz="900" dirty="0">
                <a:solidFill>
                  <a:srgbClr val="DFE2E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· </a:t>
            </a:r>
            <a:pPr algn="l" indent="0" marL="0">
              <a:lnSpc>
                <a:spcPct val="119000"/>
              </a:lnSpc>
              <a:buNone/>
            </a:pPr>
            <a:r>
              <a:rPr lang="en-US" sz="900" dirty="0">
                <a:solidFill>
                  <a:srgbClr val="C41E3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DATE</a:t>
            </a:r>
            <a:pPr algn="l" indent="0" marL="0">
              <a:lnSpc>
                <a:spcPct val="119000"/>
              </a:lnSpc>
              <a:buNone/>
            </a:pPr>
            <a:r>
              <a:rPr lang="en-US" sz="900" dirty="0">
                <a:solidFill>
                  <a:srgbClr val="DFE2E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· </a:t>
            </a:r>
            <a:pPr algn="l" indent="0" marL="0">
              <a:lnSpc>
                <a:spcPct val="119000"/>
              </a:lnSpc>
              <a:buNone/>
            </a:pPr>
            <a:r>
              <a:rPr lang="en-US" sz="900" dirty="0">
                <a:solidFill>
                  <a:srgbClr val="C41E3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TIME</a:t>
            </a:r>
            <a:pPr algn="l" indent="0" marL="0">
              <a:lnSpc>
                <a:spcPct val="119000"/>
              </a:lnSpc>
              <a:buNone/>
            </a:pPr>
            <a:r>
              <a:rPr lang="en-US" sz="900" dirty="0">
                <a:solidFill>
                  <a:srgbClr val="DFE2E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· </a:t>
            </a:r>
            <a:pPr algn="l" indent="0" marL="0">
              <a:lnSpc>
                <a:spcPct val="119000"/>
              </a:lnSpc>
              <a:buNone/>
            </a:pPr>
            <a:r>
              <a:rPr lang="en-US" sz="900" dirty="0">
                <a:solidFill>
                  <a:srgbClr val="C41E3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VENUE</a:t>
            </a:r>
            <a:pPr algn="l" indent="0" marL="0">
              <a:lnSpc>
                <a:spcPct val="119000"/>
              </a:lnSpc>
              <a:buNone/>
            </a:pPr>
            <a:r>
              <a:rPr lang="en-US" sz="900" dirty="0">
                <a:solidFill>
                  <a:srgbClr val="DFE2E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identified</a:t>
            </a:r>
            <a:endParaRPr lang="en-US" sz="9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4696420"/>
            <a:ext cx="744221" cy="89306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522870" y="4845248"/>
            <a:ext cx="5435464" cy="255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DFE2E4"/>
                </a:solidFill>
                <a:latin typeface="Oswald Medium" pitchFamily="34" charset="0"/>
                <a:ea typeface="Oswald Medium" pitchFamily="34" charset="-122"/>
                <a:cs typeface="Oswald Medium" pitchFamily="34" charset="-120"/>
              </a:rPr>
              <a:t>✦ ADD TO CALENDAR</a:t>
            </a:r>
            <a:endParaRPr lang="en-US" sz="1600" dirty="0"/>
          </a:p>
        </p:txBody>
      </p:sp>
      <p:sp>
        <p:nvSpPr>
          <p:cNvPr id="17" name="Text 10"/>
          <p:cNvSpPr/>
          <p:nvPr/>
        </p:nvSpPr>
        <p:spPr>
          <a:xfrm>
            <a:off x="1522870" y="5171281"/>
            <a:ext cx="5435464" cy="170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900" dirty="0">
                <a:solidFill>
                  <a:srgbClr val="DFE2E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Highest-value action surfaced. User confirms. Done.</a:t>
            </a:r>
            <a:endParaRPr lang="en-US" sz="900" dirty="0"/>
          </a:p>
        </p:txBody>
      </p:sp>
      <p:sp>
        <p:nvSpPr>
          <p:cNvPr id="18" name="Shape 11"/>
          <p:cNvSpPr/>
          <p:nvPr/>
        </p:nvSpPr>
        <p:spPr>
          <a:xfrm>
            <a:off x="661475" y="5721350"/>
            <a:ext cx="2020837" cy="591542"/>
          </a:xfrm>
          <a:prstGeom prst="roundRect">
            <a:avLst>
              <a:gd name="adj" fmla="val 1288"/>
            </a:avLst>
          </a:prstGeom>
          <a:solidFill>
            <a:srgbClr val="060606"/>
          </a:solidFill>
          <a:ln w="19050">
            <a:solidFill>
              <a:srgbClr val="3E3E3E"/>
            </a:solidFill>
            <a:prstDash val="solid"/>
          </a:ln>
        </p:spPr>
      </p:sp>
      <p:sp>
        <p:nvSpPr>
          <p:cNvPr id="19" name="Text 12"/>
          <p:cNvSpPr/>
          <p:nvPr/>
        </p:nvSpPr>
        <p:spPr>
          <a:xfrm>
            <a:off x="829349" y="5889228"/>
            <a:ext cx="1685089" cy="255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DFE2E4"/>
                </a:solidFill>
                <a:latin typeface="Oswald Medium" pitchFamily="34" charset="0"/>
                <a:ea typeface="Oswald Medium" pitchFamily="34" charset="-122"/>
                <a:cs typeface="Oswald Medium" pitchFamily="34" charset="-120"/>
              </a:rPr>
              <a:t>ADDRESS → MAPS</a:t>
            </a:r>
            <a:endParaRPr lang="en-US" sz="1600" dirty="0"/>
          </a:p>
        </p:txBody>
      </p:sp>
      <p:sp>
        <p:nvSpPr>
          <p:cNvPr id="20" name="Shape 13"/>
          <p:cNvSpPr/>
          <p:nvPr/>
        </p:nvSpPr>
        <p:spPr>
          <a:xfrm>
            <a:off x="2799486" y="5721350"/>
            <a:ext cx="2020837" cy="591542"/>
          </a:xfrm>
          <a:prstGeom prst="roundRect">
            <a:avLst>
              <a:gd name="adj" fmla="val 1288"/>
            </a:avLst>
          </a:prstGeom>
          <a:solidFill>
            <a:srgbClr val="060606"/>
          </a:solidFill>
          <a:ln w="19050">
            <a:solidFill>
              <a:srgbClr val="3E3E3E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2967360" y="5889228"/>
            <a:ext cx="1685089" cy="255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DFE2E4"/>
                </a:solidFill>
                <a:latin typeface="Oswald Medium" pitchFamily="34" charset="0"/>
                <a:ea typeface="Oswald Medium" pitchFamily="34" charset="-122"/>
                <a:cs typeface="Oswald Medium" pitchFamily="34" charset="-120"/>
              </a:rPr>
              <a:t>PHONE → CONTACT</a:t>
            </a:r>
            <a:endParaRPr lang="en-US" sz="1600" dirty="0"/>
          </a:p>
        </p:txBody>
      </p:sp>
      <p:sp>
        <p:nvSpPr>
          <p:cNvPr id="22" name="Shape 15"/>
          <p:cNvSpPr/>
          <p:nvPr/>
        </p:nvSpPr>
        <p:spPr>
          <a:xfrm>
            <a:off x="4937498" y="5721350"/>
            <a:ext cx="2020837" cy="591542"/>
          </a:xfrm>
          <a:prstGeom prst="roundRect">
            <a:avLst>
              <a:gd name="adj" fmla="val 1288"/>
            </a:avLst>
          </a:prstGeom>
          <a:solidFill>
            <a:srgbClr val="060606"/>
          </a:solidFill>
          <a:ln w="19050">
            <a:solidFill>
              <a:srgbClr val="3E3E3E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105371" y="5889228"/>
            <a:ext cx="1685089" cy="255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DFE2E4"/>
                </a:solidFill>
                <a:latin typeface="Oswald Medium" pitchFamily="34" charset="0"/>
                <a:ea typeface="Oswald Medium" pitchFamily="34" charset="-122"/>
                <a:cs typeface="Oswald Medium" pitchFamily="34" charset="-120"/>
              </a:rPr>
              <a:t>TASK → REMINDER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984673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75000"/>
                </a:lnTo>
                <a:close/>
              </a:path>
            </a:pathLst>
          </a:custGeom>
        </p:spPr>
      </p:pic>
      <p:sp>
        <p:nvSpPr>
          <p:cNvPr id="3" name="Shape 0"/>
          <p:cNvSpPr/>
          <p:nvPr/>
        </p:nvSpPr>
        <p:spPr>
          <a:xfrm>
            <a:off x="661475" y="2509540"/>
            <a:ext cx="1100408" cy="229691"/>
          </a:xfrm>
          <a:prstGeom prst="roundRect">
            <a:avLst>
              <a:gd name="adj" fmla="val 3317"/>
            </a:avLst>
          </a:prstGeom>
          <a:noFill/>
          <a:ln w="6350">
            <a:solidFill>
              <a:srgbClr val="9FA8A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52159" y="2554883"/>
            <a:ext cx="1528625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9FA8A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ARCHITECTURE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661475" y="2787551"/>
            <a:ext cx="10868745" cy="519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FFFFFF"/>
                </a:solidFill>
                <a:latin typeface="Oswald Medium" pitchFamily="34" charset="0"/>
                <a:ea typeface="Oswald Medium" pitchFamily="34" charset="-122"/>
                <a:cs typeface="Oswald Medium" pitchFamily="34" charset="-120"/>
              </a:rPr>
              <a:t>FROM PIXELS TO ACTIONS.</a:t>
            </a:r>
            <a:endParaRPr lang="en-US" sz="3250" dirty="0"/>
          </a:p>
        </p:txBody>
      </p:sp>
      <p:sp>
        <p:nvSpPr>
          <p:cNvPr id="6" name="Shape 3"/>
          <p:cNvSpPr/>
          <p:nvPr/>
        </p:nvSpPr>
        <p:spPr>
          <a:xfrm>
            <a:off x="661475" y="3488630"/>
            <a:ext cx="10868745" cy="2439789"/>
          </a:xfrm>
          <a:prstGeom prst="roundRect">
            <a:avLst>
              <a:gd name="adj" fmla="val 312"/>
            </a:avLst>
          </a:prstGeom>
          <a:solidFill>
            <a:srgbClr val="060606"/>
          </a:solidFill>
          <a:ln w="6350">
            <a:solidFill>
              <a:srgbClr val="3E3E3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67825" y="3494980"/>
            <a:ext cx="5428023" cy="809030"/>
          </a:xfrm>
          <a:custGeom>
            <a:avLst/>
            <a:gdLst/>
            <a:ahLst/>
            <a:cxnLst/>
            <a:rect l="l" t="t" r="r" b="b"/>
            <a:pathLst>
              <a:path w="5428023" h="809030">
                <a:moveTo>
                  <a:pt x="6350" y="0"/>
                </a:moveTo>
                <a:lnTo>
                  <a:pt x="5428023" y="0"/>
                </a:lnTo>
                <a:lnTo>
                  <a:pt x="5428023" y="809030"/>
                </a:lnTo>
                <a:lnTo>
                  <a:pt x="0" y="809030"/>
                </a:lnTo>
                <a:lnTo>
                  <a:pt x="0" y="6350"/>
                </a:lnTo>
                <a:arcTo hR="6350" wR="6350" stAng="10800000" swAng="5400000"/>
                <a:close/>
              </a:path>
            </a:pathLst>
          </a:custGeom>
          <a:solidFill>
            <a:srgbClr val="060606"/>
          </a:solidFill>
          <a:ln/>
        </p:spPr>
      </p:sp>
      <p:sp>
        <p:nvSpPr>
          <p:cNvPr id="8" name="Text 5"/>
          <p:cNvSpPr/>
          <p:nvPr/>
        </p:nvSpPr>
        <p:spPr>
          <a:xfrm>
            <a:off x="819030" y="3646190"/>
            <a:ext cx="5125612" cy="259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DFE2E4"/>
                </a:solidFill>
                <a:latin typeface="Oswald Medium" pitchFamily="34" charset="0"/>
                <a:ea typeface="Oswald Medium" pitchFamily="34" charset="-122"/>
                <a:cs typeface="Oswald Medium" pitchFamily="34" charset="-120"/>
              </a:rPr>
              <a:t>GESTURE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19030" y="3978672"/>
            <a:ext cx="5125612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FE2E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Four-finger interaction triggers capture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095848" y="3494980"/>
            <a:ext cx="5428023" cy="809030"/>
          </a:xfrm>
          <a:custGeom>
            <a:avLst/>
            <a:gdLst/>
            <a:ahLst/>
            <a:cxnLst/>
            <a:rect l="l" t="t" r="r" b="b"/>
            <a:pathLst>
              <a:path w="5428023" h="809030">
                <a:moveTo>
                  <a:pt x="0" y="0"/>
                </a:moveTo>
                <a:lnTo>
                  <a:pt x="5421673" y="0"/>
                </a:lnTo>
                <a:arcTo hR="6350" wR="6350" stAng="16200000" swAng="5400000"/>
                <a:lnTo>
                  <a:pt x="5428023" y="809030"/>
                </a:lnTo>
                <a:lnTo>
                  <a:pt x="0" y="809030"/>
                </a:lnTo>
                <a:lnTo>
                  <a:pt x="0" y="0"/>
                </a:lnTo>
                <a:close/>
              </a:path>
            </a:pathLst>
          </a:custGeom>
          <a:solidFill>
            <a:srgbClr val="060606"/>
          </a:solidFill>
          <a:ln/>
        </p:spPr>
      </p:sp>
      <p:sp>
        <p:nvSpPr>
          <p:cNvPr id="11" name="Shape 8"/>
          <p:cNvSpPr/>
          <p:nvPr/>
        </p:nvSpPr>
        <p:spPr>
          <a:xfrm>
            <a:off x="6095848" y="3494980"/>
            <a:ext cx="19050" cy="809030"/>
          </a:xfrm>
          <a:prstGeom prst="roundRect">
            <a:avLst>
              <a:gd name="adj" fmla="val 39999"/>
            </a:avLst>
          </a:prstGeom>
          <a:solidFill>
            <a:srgbClr val="3E3E3E"/>
          </a:solidFill>
          <a:ln/>
        </p:spPr>
      </p:sp>
      <p:sp>
        <p:nvSpPr>
          <p:cNvPr id="12" name="Text 9"/>
          <p:cNvSpPr/>
          <p:nvPr/>
        </p:nvSpPr>
        <p:spPr>
          <a:xfrm>
            <a:off x="6247053" y="3646190"/>
            <a:ext cx="5125612" cy="259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DFE2E4"/>
                </a:solidFill>
                <a:latin typeface="Oswald Medium" pitchFamily="34" charset="0"/>
                <a:ea typeface="Oswald Medium" pitchFamily="34" charset="-122"/>
                <a:cs typeface="Oswald Medium" pitchFamily="34" charset="-120"/>
              </a:rPr>
              <a:t>CAPTURE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247053" y="3978672"/>
            <a:ext cx="5125612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FE2E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Current screen pixels acquired via AccessibilityService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67825" y="4304010"/>
            <a:ext cx="5428023" cy="809030"/>
          </a:xfrm>
          <a:prstGeom prst="rect">
            <a:avLst/>
          </a:prstGeom>
          <a:solidFill>
            <a:srgbClr val="060606"/>
          </a:solidFill>
          <a:ln/>
        </p:spPr>
      </p:sp>
      <p:sp>
        <p:nvSpPr>
          <p:cNvPr id="15" name="Shape 12"/>
          <p:cNvSpPr/>
          <p:nvPr/>
        </p:nvSpPr>
        <p:spPr>
          <a:xfrm>
            <a:off x="667825" y="4304010"/>
            <a:ext cx="5428023" cy="19050"/>
          </a:xfrm>
          <a:prstGeom prst="roundRect">
            <a:avLst>
              <a:gd name="adj" fmla="val 39999"/>
            </a:avLst>
          </a:prstGeom>
          <a:solidFill>
            <a:srgbClr val="3E3E3E"/>
          </a:solidFill>
          <a:ln/>
        </p:spPr>
      </p:sp>
      <p:sp>
        <p:nvSpPr>
          <p:cNvPr id="16" name="Text 13"/>
          <p:cNvSpPr/>
          <p:nvPr/>
        </p:nvSpPr>
        <p:spPr>
          <a:xfrm>
            <a:off x="819030" y="4455220"/>
            <a:ext cx="5125612" cy="259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DFE2E4"/>
                </a:solidFill>
                <a:latin typeface="Oswald Medium" pitchFamily="34" charset="0"/>
                <a:ea typeface="Oswald Medium" pitchFamily="34" charset="-122"/>
                <a:cs typeface="Oswald Medium" pitchFamily="34" charset="-120"/>
              </a:rPr>
              <a:t>PERCEPTION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19030" y="4787702"/>
            <a:ext cx="5125612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FE2E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OCR + Computer Vision parse visible content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095848" y="4304010"/>
            <a:ext cx="5428023" cy="809030"/>
          </a:xfrm>
          <a:prstGeom prst="rect">
            <a:avLst/>
          </a:prstGeom>
          <a:solidFill>
            <a:srgbClr val="060606"/>
          </a:solidFill>
          <a:ln/>
        </p:spPr>
      </p:sp>
      <p:sp>
        <p:nvSpPr>
          <p:cNvPr id="19" name="Shape 16"/>
          <p:cNvSpPr/>
          <p:nvPr/>
        </p:nvSpPr>
        <p:spPr>
          <a:xfrm>
            <a:off x="6095848" y="4304010"/>
            <a:ext cx="19050" cy="809030"/>
          </a:xfrm>
          <a:prstGeom prst="roundRect">
            <a:avLst>
              <a:gd name="adj" fmla="val 39999"/>
            </a:avLst>
          </a:prstGeom>
          <a:solidFill>
            <a:srgbClr val="3E3E3E"/>
          </a:solidFill>
          <a:ln/>
        </p:spPr>
      </p:sp>
      <p:sp>
        <p:nvSpPr>
          <p:cNvPr id="20" name="Shape 17"/>
          <p:cNvSpPr/>
          <p:nvPr/>
        </p:nvSpPr>
        <p:spPr>
          <a:xfrm>
            <a:off x="6095848" y="4304010"/>
            <a:ext cx="5428023" cy="19050"/>
          </a:xfrm>
          <a:prstGeom prst="roundRect">
            <a:avLst>
              <a:gd name="adj" fmla="val 39999"/>
            </a:avLst>
          </a:prstGeom>
          <a:solidFill>
            <a:srgbClr val="3E3E3E"/>
          </a:solidFill>
          <a:ln/>
        </p:spPr>
      </p:sp>
      <p:sp>
        <p:nvSpPr>
          <p:cNvPr id="21" name="Text 18"/>
          <p:cNvSpPr/>
          <p:nvPr/>
        </p:nvSpPr>
        <p:spPr>
          <a:xfrm>
            <a:off x="6247053" y="4455220"/>
            <a:ext cx="5125612" cy="259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DFE2E4"/>
                </a:solidFill>
                <a:latin typeface="Oswald Medium" pitchFamily="34" charset="0"/>
                <a:ea typeface="Oswald Medium" pitchFamily="34" charset="-122"/>
                <a:cs typeface="Oswald Medium" pitchFamily="34" charset="-120"/>
              </a:rPr>
              <a:t>INTELLIGENCE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247053" y="4787702"/>
            <a:ext cx="5125612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FE2E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Local AI reasons on context and intent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67825" y="5113040"/>
            <a:ext cx="5428023" cy="809030"/>
          </a:xfrm>
          <a:custGeom>
            <a:avLst/>
            <a:gdLst/>
            <a:ahLst/>
            <a:cxnLst/>
            <a:rect l="l" t="t" r="r" b="b"/>
            <a:pathLst>
              <a:path w="5428023" h="809030">
                <a:moveTo>
                  <a:pt x="0" y="0"/>
                </a:moveTo>
                <a:lnTo>
                  <a:pt x="5428023" y="0"/>
                </a:lnTo>
                <a:lnTo>
                  <a:pt x="5428023" y="809030"/>
                </a:lnTo>
                <a:lnTo>
                  <a:pt x="6350" y="809030"/>
                </a:lnTo>
                <a:arcTo hR="6350" wR="6350" stAng="5400000" swAng="5400000"/>
                <a:lnTo>
                  <a:pt x="0" y="0"/>
                </a:lnTo>
                <a:close/>
              </a:path>
            </a:pathLst>
          </a:custGeom>
          <a:solidFill>
            <a:srgbClr val="060606"/>
          </a:solidFill>
          <a:ln/>
        </p:spPr>
      </p:sp>
      <p:sp>
        <p:nvSpPr>
          <p:cNvPr id="24" name="Shape 21"/>
          <p:cNvSpPr/>
          <p:nvPr/>
        </p:nvSpPr>
        <p:spPr>
          <a:xfrm>
            <a:off x="667825" y="5113040"/>
            <a:ext cx="5428023" cy="19050"/>
          </a:xfrm>
          <a:prstGeom prst="roundRect">
            <a:avLst>
              <a:gd name="adj" fmla="val 39999"/>
            </a:avLst>
          </a:prstGeom>
          <a:solidFill>
            <a:srgbClr val="3E3E3E"/>
          </a:solidFill>
          <a:ln/>
        </p:spPr>
      </p:sp>
      <p:sp>
        <p:nvSpPr>
          <p:cNvPr id="25" name="Text 22"/>
          <p:cNvSpPr/>
          <p:nvPr/>
        </p:nvSpPr>
        <p:spPr>
          <a:xfrm>
            <a:off x="819030" y="5264249"/>
            <a:ext cx="5125612" cy="259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DFE2E4"/>
                </a:solidFill>
                <a:latin typeface="Oswald Medium" pitchFamily="34" charset="0"/>
                <a:ea typeface="Oswald Medium" pitchFamily="34" charset="-122"/>
                <a:cs typeface="Oswald Medium" pitchFamily="34" charset="-120"/>
              </a:rPr>
              <a:t>PLANNING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819030" y="5596731"/>
            <a:ext cx="5125612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FE2E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Selects highest-value action for the user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6095848" y="5113040"/>
            <a:ext cx="5428023" cy="809030"/>
          </a:xfrm>
          <a:custGeom>
            <a:avLst/>
            <a:gdLst/>
            <a:ahLst/>
            <a:cxnLst/>
            <a:rect l="l" t="t" r="r" b="b"/>
            <a:pathLst>
              <a:path w="5428023" h="809030">
                <a:moveTo>
                  <a:pt x="0" y="0"/>
                </a:moveTo>
                <a:lnTo>
                  <a:pt x="5428023" y="0"/>
                </a:lnTo>
                <a:lnTo>
                  <a:pt x="5428023" y="802680"/>
                </a:lnTo>
                <a:arcTo hR="6350" wR="6350" stAng="0" swAng="5400000"/>
                <a:lnTo>
                  <a:pt x="0" y="809030"/>
                </a:lnTo>
                <a:lnTo>
                  <a:pt x="0" y="0"/>
                </a:lnTo>
                <a:close/>
              </a:path>
            </a:pathLst>
          </a:custGeom>
          <a:solidFill>
            <a:srgbClr val="060606"/>
          </a:solidFill>
          <a:ln/>
        </p:spPr>
      </p:sp>
      <p:sp>
        <p:nvSpPr>
          <p:cNvPr id="28" name="Shape 25"/>
          <p:cNvSpPr/>
          <p:nvPr/>
        </p:nvSpPr>
        <p:spPr>
          <a:xfrm>
            <a:off x="6095848" y="5113040"/>
            <a:ext cx="19050" cy="809030"/>
          </a:xfrm>
          <a:prstGeom prst="roundRect">
            <a:avLst>
              <a:gd name="adj" fmla="val 39999"/>
            </a:avLst>
          </a:prstGeom>
          <a:solidFill>
            <a:srgbClr val="3E3E3E"/>
          </a:solidFill>
          <a:ln/>
        </p:spPr>
      </p:sp>
      <p:sp>
        <p:nvSpPr>
          <p:cNvPr id="29" name="Shape 26"/>
          <p:cNvSpPr/>
          <p:nvPr/>
        </p:nvSpPr>
        <p:spPr>
          <a:xfrm>
            <a:off x="6095848" y="5113040"/>
            <a:ext cx="5428023" cy="19050"/>
          </a:xfrm>
          <a:prstGeom prst="roundRect">
            <a:avLst>
              <a:gd name="adj" fmla="val 39999"/>
            </a:avLst>
          </a:prstGeom>
          <a:solidFill>
            <a:srgbClr val="3E3E3E"/>
          </a:solidFill>
          <a:ln/>
        </p:spPr>
      </p:sp>
      <p:sp>
        <p:nvSpPr>
          <p:cNvPr id="30" name="Text 27"/>
          <p:cNvSpPr/>
          <p:nvPr/>
        </p:nvSpPr>
        <p:spPr>
          <a:xfrm>
            <a:off x="6247053" y="5264249"/>
            <a:ext cx="5125612" cy="259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DFE2E4"/>
                </a:solidFill>
                <a:latin typeface="Oswald Medium" pitchFamily="34" charset="0"/>
                <a:ea typeface="Oswald Medium" pitchFamily="34" charset="-122"/>
                <a:cs typeface="Oswald Medium" pitchFamily="34" charset="-120"/>
              </a:rPr>
              <a:t>EXECUTION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247053" y="5596731"/>
            <a:ext cx="5125612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FE2E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Android Intent fired · User confirms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356682" y="6064448"/>
            <a:ext cx="11478330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🔒</a:t>
            </a:r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FA8A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Privacy-first · Local processing wherever practical · User confirmation for consequential actions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17438"/>
            <a:ext cx="950591" cy="258465"/>
          </a:xfrm>
          <a:prstGeom prst="roundRect">
            <a:avLst>
              <a:gd name="adj" fmla="val 2948"/>
            </a:avLst>
          </a:prstGeom>
          <a:noFill/>
          <a:ln w="6350">
            <a:solidFill>
              <a:srgbClr val="9FA8A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3469" y="668437"/>
            <a:ext cx="1356187" cy="15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9FA8A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USE CASES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1475" y="937121"/>
            <a:ext cx="10868745" cy="5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Oswald Medium" pitchFamily="34" charset="0"/>
                <a:ea typeface="Oswald Medium" pitchFamily="34" charset="-122"/>
                <a:cs typeface="Oswald Medium" pitchFamily="34" charset="-120"/>
              </a:rPr>
              <a:t>ONE SCREEN. MANY ACTIONS.</a:t>
            </a:r>
            <a:endParaRPr lang="en-US" sz="3650" dirty="0"/>
          </a:p>
        </p:txBody>
      </p:sp>
      <p:sp>
        <p:nvSpPr>
          <p:cNvPr id="5" name="Shape 3"/>
          <p:cNvSpPr/>
          <p:nvPr/>
        </p:nvSpPr>
        <p:spPr>
          <a:xfrm>
            <a:off x="661475" y="1751409"/>
            <a:ext cx="5357778" cy="1267916"/>
          </a:xfrm>
          <a:prstGeom prst="roundRect">
            <a:avLst>
              <a:gd name="adj" fmla="val 601"/>
            </a:avLst>
          </a:prstGeom>
          <a:solidFill>
            <a:srgbClr val="060606"/>
          </a:solidFill>
          <a:ln w="6350">
            <a:solidFill>
              <a:srgbClr val="3E3E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7881" y="1927820"/>
            <a:ext cx="5004965" cy="317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📅</a:t>
            </a:r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FE2E4"/>
                </a:solidFill>
                <a:latin typeface="Oswald Medium" pitchFamily="34" charset="0"/>
                <a:ea typeface="Oswald Medium" pitchFamily="34" charset="-122"/>
                <a:cs typeface="Oswald Medium" pitchFamily="34" charset="-120"/>
              </a:rPr>
              <a:t> EVENT POSTER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7881" y="2337395"/>
            <a:ext cx="5004965" cy="505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7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DFE2E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Sees: Date · Time · Venue</a:t>
            </a:r>
            <a:endParaRPr lang="en-US" sz="105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1050" b="1" dirty="0">
                <a:solidFill>
                  <a:srgbClr val="DFE2E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→ Add to Calendar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172343" y="1751409"/>
            <a:ext cx="5357877" cy="1267916"/>
          </a:xfrm>
          <a:prstGeom prst="roundRect">
            <a:avLst>
              <a:gd name="adj" fmla="val 601"/>
            </a:avLst>
          </a:prstGeom>
          <a:solidFill>
            <a:srgbClr val="060606"/>
          </a:solidFill>
          <a:ln w="6350">
            <a:solidFill>
              <a:srgbClr val="3E3E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48750" y="1927820"/>
            <a:ext cx="5005064" cy="317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📍</a:t>
            </a:r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FE2E4"/>
                </a:solidFill>
                <a:latin typeface="Oswald Medium" pitchFamily="34" charset="0"/>
                <a:ea typeface="Oswald Medium" pitchFamily="34" charset="-122"/>
                <a:cs typeface="Oswald Medium" pitchFamily="34" charset="-120"/>
              </a:rPr>
              <a:t> LOCATION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348750" y="2337395"/>
            <a:ext cx="5005064" cy="505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7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DFE2E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Sees: Street address or place name</a:t>
            </a:r>
            <a:endParaRPr lang="en-US" sz="105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1050" b="1" dirty="0">
                <a:solidFill>
                  <a:srgbClr val="DFE2E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→ Open in Maps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61475" y="3172420"/>
            <a:ext cx="5357778" cy="1267916"/>
          </a:xfrm>
          <a:prstGeom prst="roundRect">
            <a:avLst>
              <a:gd name="adj" fmla="val 601"/>
            </a:avLst>
          </a:prstGeom>
          <a:solidFill>
            <a:srgbClr val="060606"/>
          </a:solidFill>
          <a:ln w="6350">
            <a:solidFill>
              <a:srgbClr val="3E3E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7881" y="3348831"/>
            <a:ext cx="5004965" cy="317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👤</a:t>
            </a:r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FE2E4"/>
                </a:solidFill>
                <a:latin typeface="Oswald Medium" pitchFamily="34" charset="0"/>
                <a:ea typeface="Oswald Medium" pitchFamily="34" charset="-122"/>
                <a:cs typeface="Oswald Medium" pitchFamily="34" charset="-120"/>
              </a:rPr>
              <a:t> CONTACT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37881" y="3758406"/>
            <a:ext cx="5004965" cy="505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7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DFE2E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Sees: Phone number or business card</a:t>
            </a:r>
            <a:endParaRPr lang="en-US" sz="105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1050" b="1" dirty="0">
                <a:solidFill>
                  <a:srgbClr val="DFE2E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→ Save Contact / Call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72343" y="3172420"/>
            <a:ext cx="5357877" cy="1267916"/>
          </a:xfrm>
          <a:prstGeom prst="roundRect">
            <a:avLst>
              <a:gd name="adj" fmla="val 601"/>
            </a:avLst>
          </a:prstGeom>
          <a:solidFill>
            <a:srgbClr val="060606"/>
          </a:solidFill>
          <a:ln w="6350">
            <a:solidFill>
              <a:srgbClr val="3E3E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48750" y="3348831"/>
            <a:ext cx="5005064" cy="317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FE2E4"/>
                </a:solidFill>
                <a:latin typeface="Oswald Medium" pitchFamily="34" charset="0"/>
                <a:ea typeface="Oswald Medium" pitchFamily="34" charset="-122"/>
                <a:cs typeface="Oswald Medium" pitchFamily="34" charset="-120"/>
              </a:rPr>
              <a:t> TASK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348750" y="3758406"/>
            <a:ext cx="5005064" cy="505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7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DFE2E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Sees: To-do item or instruction</a:t>
            </a:r>
            <a:endParaRPr lang="en-US" sz="105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1050" b="1" dirty="0">
                <a:solidFill>
                  <a:srgbClr val="DFE2E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→ Create Reminder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61475" y="4593431"/>
            <a:ext cx="5357778" cy="1267916"/>
          </a:xfrm>
          <a:prstGeom prst="roundRect">
            <a:avLst>
              <a:gd name="adj" fmla="val 601"/>
            </a:avLst>
          </a:prstGeom>
          <a:solidFill>
            <a:srgbClr val="060606"/>
          </a:solidFill>
          <a:ln w="6350">
            <a:solidFill>
              <a:srgbClr val="3E3E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7881" y="4769842"/>
            <a:ext cx="5004965" cy="317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🌐</a:t>
            </a:r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FE2E4"/>
                </a:solidFill>
                <a:latin typeface="Oswald Medium" pitchFamily="34" charset="0"/>
                <a:ea typeface="Oswald Medium" pitchFamily="34" charset="-122"/>
                <a:cs typeface="Oswald Medium" pitchFamily="34" charset="-120"/>
              </a:rPr>
              <a:t> URL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37881" y="5179417"/>
            <a:ext cx="5004965" cy="505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7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DFE2E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Sees: Link or web address</a:t>
            </a:r>
            <a:endParaRPr lang="en-US" sz="105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1050" b="1" dirty="0">
                <a:solidFill>
                  <a:srgbClr val="DFE2E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→ Open Browser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72343" y="4593431"/>
            <a:ext cx="5357877" cy="1267916"/>
          </a:xfrm>
          <a:prstGeom prst="roundRect">
            <a:avLst>
              <a:gd name="adj" fmla="val 601"/>
            </a:avLst>
          </a:prstGeom>
          <a:solidFill>
            <a:srgbClr val="060606"/>
          </a:solidFill>
          <a:ln w="6350">
            <a:solidFill>
              <a:srgbClr val="3E3E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48750" y="4769842"/>
            <a:ext cx="5005064" cy="317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⬛</a:t>
            </a:r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FE2E4"/>
                </a:solidFill>
                <a:latin typeface="Oswald Medium" pitchFamily="34" charset="0"/>
                <a:ea typeface="Oswald Medium" pitchFamily="34" charset="-122"/>
                <a:cs typeface="Oswald Medium" pitchFamily="34" charset="-120"/>
              </a:rPr>
              <a:t> QR CODE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348750" y="5179417"/>
            <a:ext cx="5005064" cy="505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7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DFE2E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Sees: Any QR on screen</a:t>
            </a:r>
            <a:endParaRPr lang="en-US" sz="105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1050" b="1" dirty="0">
                <a:solidFill>
                  <a:srgbClr val="DFE2E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→ Understand &amp; Suggest Action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56682" y="6033591"/>
            <a:ext cx="11478330" cy="206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7000"/>
              </a:lnSpc>
              <a:buNone/>
            </a:pPr>
            <a:r>
              <a:rPr lang="en-US" sz="1050" dirty="0">
                <a:solidFill>
                  <a:srgbClr val="9FA8A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Every card: Visible content → AI understanding → Executed action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35980"/>
            <a:ext cx="980455" cy="183654"/>
          </a:xfrm>
          <a:prstGeom prst="roundRect">
            <a:avLst>
              <a:gd name="adj" fmla="val 4149"/>
            </a:avLst>
          </a:prstGeom>
          <a:noFill/>
          <a:ln w="6350">
            <a:solidFill>
              <a:srgbClr val="9FA8A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4002" y="572195"/>
            <a:ext cx="1444986" cy="11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9FA8A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DIFFERENTIATION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61475" y="750491"/>
            <a:ext cx="10868745" cy="831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Oswald Medium" pitchFamily="34" charset="0"/>
                <a:ea typeface="Oswald Medium" pitchFamily="34" charset="-122"/>
                <a:cs typeface="Oswald Medium" pitchFamily="34" charset="-120"/>
              </a:rPr>
              <a:t>MOST AI TOOLS HELP YOU UNDERSTAND.</a:t>
            </a:r>
            <a:endParaRPr lang="en-US" sz="26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Oswald Medium" pitchFamily="34" charset="0"/>
                <a:ea typeface="Oswald Medium" pitchFamily="34" charset="-122"/>
                <a:cs typeface="Oswald Medium" pitchFamily="34" charset="-120"/>
              </a:rPr>
              <a:t>SCREENIQ HELPS YOU </a:t>
            </a:r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C41E3A"/>
                </a:solidFill>
                <a:latin typeface="Oswald Medium" pitchFamily="34" charset="0"/>
                <a:ea typeface="Oswald Medium" pitchFamily="34" charset="-122"/>
                <a:cs typeface="Oswald Medium" pitchFamily="34" charset="-120"/>
              </a:rPr>
              <a:t>ACT</a:t>
            </a:r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Oswald Medium" pitchFamily="34" charset="0"/>
                <a:ea typeface="Oswald Medium" pitchFamily="34" charset="-122"/>
                <a:cs typeface="Oswald Medium" pitchFamily="34" charset="-120"/>
              </a:rPr>
              <a:t>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61475" y="1775222"/>
            <a:ext cx="3612266" cy="207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9FA8AF"/>
                </a:solidFill>
                <a:latin typeface="Oswald Medium" pitchFamily="34" charset="0"/>
                <a:ea typeface="Oswald Medium" pitchFamily="34" charset="-122"/>
                <a:cs typeface="Oswald Medium" pitchFamily="34" charset="-120"/>
              </a:rPr>
              <a:t>TRADITIONAL WORKFLOW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61475" y="2262783"/>
            <a:ext cx="3612266" cy="127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661475" y="2348607"/>
            <a:ext cx="3612266" cy="207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FE2E4"/>
                </a:solidFill>
                <a:latin typeface="Oswald Medium" pitchFamily="34" charset="0"/>
                <a:ea typeface="Oswald Medium" pitchFamily="34" charset="-122"/>
                <a:cs typeface="Oswald Medium" pitchFamily="34" charset="-120"/>
              </a:rPr>
              <a:t>SEE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61475" y="2917130"/>
            <a:ext cx="3612266" cy="127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661475" y="3002955"/>
            <a:ext cx="3612266" cy="207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FE2E4"/>
                </a:solidFill>
                <a:latin typeface="Oswald Medium" pitchFamily="34" charset="0"/>
                <a:ea typeface="Oswald Medium" pitchFamily="34" charset="-122"/>
                <a:cs typeface="Oswald Medium" pitchFamily="34" charset="-120"/>
              </a:rPr>
              <a:t>SCREENSHOT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61475" y="3571478"/>
            <a:ext cx="3612266" cy="127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661475" y="3657302"/>
            <a:ext cx="3612266" cy="207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FE2E4"/>
                </a:solidFill>
                <a:latin typeface="Oswald Medium" pitchFamily="34" charset="0"/>
                <a:ea typeface="Oswald Medium" pitchFamily="34" charset="-122"/>
                <a:cs typeface="Oswald Medium" pitchFamily="34" charset="-120"/>
              </a:rPr>
              <a:t>SHARE / ASK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61475" y="4225826"/>
            <a:ext cx="3612266" cy="127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661475" y="4311650"/>
            <a:ext cx="3612266" cy="207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FE2E4"/>
                </a:solidFill>
                <a:latin typeface="Oswald Medium" pitchFamily="34" charset="0"/>
                <a:ea typeface="Oswald Medium" pitchFamily="34" charset="-122"/>
                <a:cs typeface="Oswald Medium" pitchFamily="34" charset="-120"/>
              </a:rPr>
              <a:t>COPY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61475" y="4880173"/>
            <a:ext cx="3612266" cy="127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661475" y="4965998"/>
            <a:ext cx="3612266" cy="207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FE2E4"/>
                </a:solidFill>
                <a:latin typeface="Oswald Medium" pitchFamily="34" charset="0"/>
                <a:ea typeface="Oswald Medium" pitchFamily="34" charset="-122"/>
                <a:cs typeface="Oswald Medium" pitchFamily="34" charset="-120"/>
              </a:rPr>
              <a:t>OPEN APP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61475" y="5534521"/>
            <a:ext cx="3612266" cy="127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7" name="Text 15"/>
          <p:cNvSpPr/>
          <p:nvPr/>
        </p:nvSpPr>
        <p:spPr>
          <a:xfrm>
            <a:off x="661475" y="5620345"/>
            <a:ext cx="3612266" cy="207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FE2E4"/>
                </a:solidFill>
                <a:latin typeface="Oswald Medium" pitchFamily="34" charset="0"/>
                <a:ea typeface="Oswald Medium" pitchFamily="34" charset="-122"/>
                <a:cs typeface="Oswald Medium" pitchFamily="34" charset="-120"/>
              </a:rPr>
              <a:t>ACT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6527" y="3851275"/>
            <a:ext cx="2872708" cy="317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9000"/>
              </a:lnSpc>
              <a:buNone/>
            </a:pPr>
            <a:r>
              <a:rPr lang="en-US" sz="950" b="1" dirty="0">
                <a:solidFill>
                  <a:srgbClr val="DFE2E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"The screen becomes the interface between human intent and AI action."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5160" y="3781723"/>
            <a:ext cx="12700" cy="456406"/>
          </a:xfrm>
          <a:prstGeom prst="roundRect">
            <a:avLst>
              <a:gd name="adj" fmla="val 49999"/>
            </a:avLst>
          </a:prstGeom>
          <a:solidFill>
            <a:srgbClr val="C41E3A"/>
          </a:solidFill>
          <a:ln/>
        </p:spPr>
      </p:sp>
      <p:sp>
        <p:nvSpPr>
          <p:cNvPr id="20" name="Text 18"/>
          <p:cNvSpPr/>
          <p:nvPr/>
        </p:nvSpPr>
        <p:spPr>
          <a:xfrm>
            <a:off x="7930654" y="1775222"/>
            <a:ext cx="3612266" cy="207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C41E3A"/>
                </a:solidFill>
                <a:latin typeface="Oswald Medium" pitchFamily="34" charset="0"/>
                <a:ea typeface="Oswald Medium" pitchFamily="34" charset="-122"/>
                <a:cs typeface="Oswald Medium" pitchFamily="34" charset="-120"/>
              </a:rPr>
              <a:t>SCREENIQ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930654" y="2262783"/>
            <a:ext cx="3612266" cy="127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2" name="Text 20"/>
          <p:cNvSpPr/>
          <p:nvPr/>
        </p:nvSpPr>
        <p:spPr>
          <a:xfrm>
            <a:off x="7930654" y="2348607"/>
            <a:ext cx="3612266" cy="207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FE2E4"/>
                </a:solidFill>
                <a:latin typeface="Oswald Medium" pitchFamily="34" charset="0"/>
                <a:ea typeface="Oswald Medium" pitchFamily="34" charset="-122"/>
                <a:cs typeface="Oswald Medium" pitchFamily="34" charset="-120"/>
              </a:rPr>
              <a:t>SEE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930654" y="2917130"/>
            <a:ext cx="3612266" cy="127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4" name="Text 22"/>
          <p:cNvSpPr/>
          <p:nvPr/>
        </p:nvSpPr>
        <p:spPr>
          <a:xfrm>
            <a:off x="7930654" y="3002955"/>
            <a:ext cx="3612266" cy="207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C41E3A"/>
                </a:solidFill>
                <a:latin typeface="Oswald Medium" pitchFamily="34" charset="0"/>
                <a:ea typeface="Oswald Medium" pitchFamily="34" charset="-122"/>
                <a:cs typeface="Oswald Medium" pitchFamily="34" charset="-120"/>
              </a:rPr>
              <a:t>UNDERSTAND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930654" y="3571478"/>
            <a:ext cx="3612266" cy="127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6" name="Text 24"/>
          <p:cNvSpPr/>
          <p:nvPr/>
        </p:nvSpPr>
        <p:spPr>
          <a:xfrm>
            <a:off x="7930654" y="3657302"/>
            <a:ext cx="3612266" cy="207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C41E3A"/>
                </a:solidFill>
                <a:latin typeface="Oswald Medium" pitchFamily="34" charset="0"/>
                <a:ea typeface="Oswald Medium" pitchFamily="34" charset="-122"/>
                <a:cs typeface="Oswald Medium" pitchFamily="34" charset="-120"/>
              </a:rPr>
              <a:t>ACT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930654" y="4042866"/>
            <a:ext cx="3612266" cy="679152"/>
          </a:xfrm>
          <a:prstGeom prst="roundRect">
            <a:avLst>
              <a:gd name="adj" fmla="val 1122"/>
            </a:avLst>
          </a:prstGeom>
          <a:solidFill>
            <a:srgbClr val="060606"/>
          </a:solidFill>
          <a:ln w="12700">
            <a:solidFill>
              <a:srgbClr val="3E3E3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64199" y="4176415"/>
            <a:ext cx="3345176" cy="207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FE2E4"/>
                </a:solidFill>
                <a:latin typeface="Oswald Medium" pitchFamily="34" charset="0"/>
                <a:ea typeface="Oswald Medium" pitchFamily="34" charset="-122"/>
                <a:cs typeface="Oswald Medium" pitchFamily="34" charset="-120"/>
              </a:rPr>
              <a:t>PHONE-NATIVE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064199" y="4461570"/>
            <a:ext cx="3345176" cy="1269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50" dirty="0">
                <a:solidFill>
                  <a:srgbClr val="DFE2E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Uses what is already visible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7930654" y="4799310"/>
            <a:ext cx="3612266" cy="679152"/>
          </a:xfrm>
          <a:prstGeom prst="roundRect">
            <a:avLst>
              <a:gd name="adj" fmla="val 1122"/>
            </a:avLst>
          </a:prstGeom>
          <a:solidFill>
            <a:srgbClr val="060606"/>
          </a:solidFill>
          <a:ln w="12700">
            <a:solidFill>
              <a:srgbClr val="3E3E3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64199" y="4932859"/>
            <a:ext cx="3345176" cy="207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FE2E4"/>
                </a:solidFill>
                <a:latin typeface="Oswald Medium" pitchFamily="34" charset="0"/>
                <a:ea typeface="Oswald Medium" pitchFamily="34" charset="-122"/>
                <a:cs typeface="Oswald Medium" pitchFamily="34" charset="-120"/>
              </a:rPr>
              <a:t>CONTEXT-AWARE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064199" y="5218013"/>
            <a:ext cx="3345176" cy="1269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50" dirty="0">
                <a:solidFill>
                  <a:srgbClr val="DFE2E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Understands information in context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7930654" y="5555754"/>
            <a:ext cx="3612266" cy="679152"/>
          </a:xfrm>
          <a:prstGeom prst="roundRect">
            <a:avLst>
              <a:gd name="adj" fmla="val 1122"/>
            </a:avLst>
          </a:prstGeom>
          <a:solidFill>
            <a:srgbClr val="060606"/>
          </a:solidFill>
          <a:ln w="12700">
            <a:solidFill>
              <a:srgbClr val="3E3E3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64199" y="5689302"/>
            <a:ext cx="3345176" cy="207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FE2E4"/>
                </a:solidFill>
                <a:latin typeface="Oswald Medium" pitchFamily="34" charset="0"/>
                <a:ea typeface="Oswald Medium" pitchFamily="34" charset="-122"/>
                <a:cs typeface="Oswald Medium" pitchFamily="34" charset="-120"/>
              </a:rPr>
              <a:t>ACTION-ORIENTED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064199" y="5974457"/>
            <a:ext cx="3345176" cy="1269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50" dirty="0">
                <a:solidFill>
                  <a:srgbClr val="DFE2E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Turns understanding into a useful next step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2108696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75000"/>
                </a:lnTo>
                <a:close/>
              </a:path>
            </a:pathLst>
          </a:custGeom>
        </p:spPr>
      </p:pic>
      <p:sp>
        <p:nvSpPr>
          <p:cNvPr id="3" name="Shape 0"/>
          <p:cNvSpPr/>
          <p:nvPr/>
        </p:nvSpPr>
        <p:spPr>
          <a:xfrm>
            <a:off x="661475" y="2579688"/>
            <a:ext cx="1079175" cy="243979"/>
          </a:xfrm>
          <a:prstGeom prst="roundRect">
            <a:avLst>
              <a:gd name="adj" fmla="val 3123"/>
            </a:avLst>
          </a:prstGeom>
          <a:noFill/>
          <a:ln w="6350">
            <a:solidFill>
              <a:srgbClr val="9FA8A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57814" y="2627809"/>
            <a:ext cx="1496082" cy="147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9FA8A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TECHNOLOGY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61475" y="2878237"/>
            <a:ext cx="10868745" cy="552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dirty="0">
                <a:solidFill>
                  <a:srgbClr val="FFFFFF"/>
                </a:solidFill>
                <a:latin typeface="Oswald Medium" pitchFamily="34" charset="0"/>
                <a:ea typeface="Oswald Medium" pitchFamily="34" charset="-122"/>
                <a:cs typeface="Oswald Medium" pitchFamily="34" charset="-120"/>
              </a:rPr>
              <a:t>BUILT FOR THE PHONE, NOT JUST FOR THE CLOUD.</a:t>
            </a:r>
            <a:endParaRPr lang="en-US" sz="3450" dirty="0"/>
          </a:p>
        </p:txBody>
      </p:sp>
      <p:sp>
        <p:nvSpPr>
          <p:cNvPr id="6" name="Text 3"/>
          <p:cNvSpPr/>
          <p:nvPr/>
        </p:nvSpPr>
        <p:spPr>
          <a:xfrm>
            <a:off x="661475" y="3771801"/>
            <a:ext cx="5801374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Oswald Medium" pitchFamily="34" charset="0"/>
                <a:ea typeface="Oswald Medium" pitchFamily="34" charset="-122"/>
                <a:cs typeface="Oswald Medium" pitchFamily="34" charset="-120"/>
              </a:rPr>
              <a:t>CORE STACK — IQOO DEVICE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61475" y="4201517"/>
            <a:ext cx="5801374" cy="1764308"/>
          </a:xfrm>
          <a:prstGeom prst="roundRect">
            <a:avLst>
              <a:gd name="adj" fmla="val 432"/>
            </a:avLst>
          </a:prstGeom>
          <a:solidFill>
            <a:srgbClr val="060606"/>
          </a:solidFill>
          <a:ln w="6350">
            <a:solidFill>
              <a:srgbClr val="3E3E3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67825" y="4207867"/>
            <a:ext cx="2894337" cy="875804"/>
          </a:xfrm>
          <a:custGeom>
            <a:avLst/>
            <a:gdLst/>
            <a:ahLst/>
            <a:cxnLst/>
            <a:rect l="l" t="t" r="r" b="b"/>
            <a:pathLst>
              <a:path w="2894337" h="875804">
                <a:moveTo>
                  <a:pt x="6350" y="0"/>
                </a:moveTo>
                <a:lnTo>
                  <a:pt x="2894337" y="0"/>
                </a:lnTo>
                <a:lnTo>
                  <a:pt x="2894337" y="875804"/>
                </a:lnTo>
                <a:lnTo>
                  <a:pt x="0" y="875804"/>
                </a:lnTo>
                <a:lnTo>
                  <a:pt x="0" y="6350"/>
                </a:lnTo>
                <a:arcTo hR="6350" wR="6350" stAng="10800000" swAng="5400000"/>
                <a:close/>
              </a:path>
            </a:pathLst>
          </a:custGeom>
          <a:solidFill>
            <a:srgbClr val="060606"/>
          </a:solidFill>
          <a:ln/>
        </p:spPr>
      </p:sp>
      <p:sp>
        <p:nvSpPr>
          <p:cNvPr id="9" name="Text 6"/>
          <p:cNvSpPr/>
          <p:nvPr/>
        </p:nvSpPr>
        <p:spPr>
          <a:xfrm>
            <a:off x="804346" y="4344392"/>
            <a:ext cx="2416412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DFE2E4"/>
                </a:solidFill>
                <a:latin typeface="Oswald Medium" pitchFamily="34" charset="0"/>
                <a:ea typeface="Oswald Medium" pitchFamily="34" charset="-122"/>
                <a:cs typeface="Oswald Medium" pitchFamily="34" charset="-120"/>
              </a:rPr>
              <a:t>GESTURE LAYER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04346" y="4757043"/>
            <a:ext cx="2416412" cy="1901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00" dirty="0">
                <a:solidFill>
                  <a:srgbClr val="DFE2E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Jetpack Compose · AccessibilityService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562162" y="4207867"/>
            <a:ext cx="2894337" cy="875804"/>
          </a:xfrm>
          <a:custGeom>
            <a:avLst/>
            <a:gdLst/>
            <a:ahLst/>
            <a:cxnLst/>
            <a:rect l="l" t="t" r="r" b="b"/>
            <a:pathLst>
              <a:path w="2894337" h="875804">
                <a:moveTo>
                  <a:pt x="0" y="0"/>
                </a:moveTo>
                <a:lnTo>
                  <a:pt x="2887987" y="0"/>
                </a:lnTo>
                <a:arcTo hR="6350" wR="6350" stAng="16200000" swAng="5400000"/>
                <a:lnTo>
                  <a:pt x="2894337" y="875804"/>
                </a:lnTo>
                <a:lnTo>
                  <a:pt x="0" y="875804"/>
                </a:lnTo>
                <a:lnTo>
                  <a:pt x="0" y="0"/>
                </a:lnTo>
                <a:close/>
              </a:path>
            </a:pathLst>
          </a:custGeom>
          <a:solidFill>
            <a:srgbClr val="060606"/>
          </a:solidFill>
          <a:ln/>
        </p:spPr>
      </p:sp>
      <p:sp>
        <p:nvSpPr>
          <p:cNvPr id="12" name="Shape 9"/>
          <p:cNvSpPr/>
          <p:nvPr/>
        </p:nvSpPr>
        <p:spPr>
          <a:xfrm>
            <a:off x="3562162" y="4207867"/>
            <a:ext cx="19050" cy="875804"/>
          </a:xfrm>
          <a:prstGeom prst="roundRect">
            <a:avLst>
              <a:gd name="adj" fmla="val 39999"/>
            </a:avLst>
          </a:prstGeom>
          <a:solidFill>
            <a:srgbClr val="3E3E3E"/>
          </a:solidFill>
          <a:ln/>
        </p:spPr>
      </p:sp>
      <p:sp>
        <p:nvSpPr>
          <p:cNvPr id="13" name="Text 10"/>
          <p:cNvSpPr/>
          <p:nvPr/>
        </p:nvSpPr>
        <p:spPr>
          <a:xfrm>
            <a:off x="3903565" y="4344392"/>
            <a:ext cx="2416412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DFE2E4"/>
                </a:solidFill>
                <a:latin typeface="Oswald Medium" pitchFamily="34" charset="0"/>
                <a:ea typeface="Oswald Medium" pitchFamily="34" charset="-122"/>
                <a:cs typeface="Oswald Medium" pitchFamily="34" charset="-120"/>
              </a:rPr>
              <a:t>OCR + COMPUTER VISION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3903565" y="4757043"/>
            <a:ext cx="2416412" cy="1901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00" dirty="0">
                <a:solidFill>
                  <a:srgbClr val="DFE2E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On-device perception pipeline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67825" y="5083671"/>
            <a:ext cx="2894337" cy="875804"/>
          </a:xfrm>
          <a:custGeom>
            <a:avLst/>
            <a:gdLst/>
            <a:ahLst/>
            <a:cxnLst/>
            <a:rect l="l" t="t" r="r" b="b"/>
            <a:pathLst>
              <a:path w="2894337" h="875804">
                <a:moveTo>
                  <a:pt x="0" y="0"/>
                </a:moveTo>
                <a:lnTo>
                  <a:pt x="2894337" y="0"/>
                </a:lnTo>
                <a:lnTo>
                  <a:pt x="2894337" y="875804"/>
                </a:lnTo>
                <a:lnTo>
                  <a:pt x="6350" y="875804"/>
                </a:lnTo>
                <a:arcTo hR="6350" wR="6350" stAng="5400000" swAng="5400000"/>
                <a:lnTo>
                  <a:pt x="0" y="0"/>
                </a:lnTo>
                <a:close/>
              </a:path>
            </a:pathLst>
          </a:custGeom>
          <a:solidFill>
            <a:srgbClr val="060606"/>
          </a:solidFill>
          <a:ln/>
        </p:spPr>
      </p:sp>
      <p:sp>
        <p:nvSpPr>
          <p:cNvPr id="16" name="Shape 13"/>
          <p:cNvSpPr/>
          <p:nvPr/>
        </p:nvSpPr>
        <p:spPr>
          <a:xfrm>
            <a:off x="667825" y="5083671"/>
            <a:ext cx="2894337" cy="19050"/>
          </a:xfrm>
          <a:prstGeom prst="roundRect">
            <a:avLst>
              <a:gd name="adj" fmla="val 39999"/>
            </a:avLst>
          </a:prstGeom>
          <a:solidFill>
            <a:srgbClr val="3E3E3E"/>
          </a:solidFill>
          <a:ln/>
        </p:spPr>
      </p:sp>
      <p:sp>
        <p:nvSpPr>
          <p:cNvPr id="17" name="Text 14"/>
          <p:cNvSpPr/>
          <p:nvPr/>
        </p:nvSpPr>
        <p:spPr>
          <a:xfrm>
            <a:off x="804346" y="5220196"/>
            <a:ext cx="2416412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DFE2E4"/>
                </a:solidFill>
                <a:latin typeface="Oswald Medium" pitchFamily="34" charset="0"/>
                <a:ea typeface="Oswald Medium" pitchFamily="34" charset="-122"/>
                <a:cs typeface="Oswald Medium" pitchFamily="34" charset="-120"/>
              </a:rPr>
              <a:t>LOCAL AI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804346" y="5632847"/>
            <a:ext cx="2416412" cy="1901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00" dirty="0">
                <a:solidFill>
                  <a:srgbClr val="DFE2E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Open-source models · Local inference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562162" y="5083671"/>
            <a:ext cx="2894337" cy="875804"/>
          </a:xfrm>
          <a:custGeom>
            <a:avLst/>
            <a:gdLst/>
            <a:ahLst/>
            <a:cxnLst/>
            <a:rect l="l" t="t" r="r" b="b"/>
            <a:pathLst>
              <a:path w="2894337" h="875804">
                <a:moveTo>
                  <a:pt x="0" y="0"/>
                </a:moveTo>
                <a:lnTo>
                  <a:pt x="2894337" y="0"/>
                </a:lnTo>
                <a:lnTo>
                  <a:pt x="2894337" y="869454"/>
                </a:lnTo>
                <a:arcTo hR="6350" wR="6350" stAng="0" swAng="5400000"/>
                <a:lnTo>
                  <a:pt x="0" y="875804"/>
                </a:lnTo>
                <a:lnTo>
                  <a:pt x="0" y="0"/>
                </a:lnTo>
                <a:close/>
              </a:path>
            </a:pathLst>
          </a:custGeom>
          <a:solidFill>
            <a:srgbClr val="060606"/>
          </a:solidFill>
          <a:ln/>
        </p:spPr>
      </p:sp>
      <p:sp>
        <p:nvSpPr>
          <p:cNvPr id="20" name="Shape 17"/>
          <p:cNvSpPr/>
          <p:nvPr/>
        </p:nvSpPr>
        <p:spPr>
          <a:xfrm>
            <a:off x="3562162" y="5083671"/>
            <a:ext cx="19050" cy="875804"/>
          </a:xfrm>
          <a:prstGeom prst="roundRect">
            <a:avLst>
              <a:gd name="adj" fmla="val 39999"/>
            </a:avLst>
          </a:prstGeom>
          <a:solidFill>
            <a:srgbClr val="3E3E3E"/>
          </a:solidFill>
          <a:ln/>
        </p:spPr>
      </p:sp>
      <p:sp>
        <p:nvSpPr>
          <p:cNvPr id="21" name="Shape 18"/>
          <p:cNvSpPr/>
          <p:nvPr/>
        </p:nvSpPr>
        <p:spPr>
          <a:xfrm>
            <a:off x="3562162" y="5083671"/>
            <a:ext cx="2894337" cy="19050"/>
          </a:xfrm>
          <a:prstGeom prst="roundRect">
            <a:avLst>
              <a:gd name="adj" fmla="val 39999"/>
            </a:avLst>
          </a:prstGeom>
          <a:solidFill>
            <a:srgbClr val="3E3E3E"/>
          </a:solidFill>
          <a:ln/>
        </p:spPr>
      </p:sp>
      <p:sp>
        <p:nvSpPr>
          <p:cNvPr id="22" name="Text 19"/>
          <p:cNvSpPr/>
          <p:nvPr/>
        </p:nvSpPr>
        <p:spPr>
          <a:xfrm>
            <a:off x="3903565" y="5220196"/>
            <a:ext cx="2416412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DFE2E4"/>
                </a:solidFill>
                <a:latin typeface="Oswald Medium" pitchFamily="34" charset="0"/>
                <a:ea typeface="Oswald Medium" pitchFamily="34" charset="-122"/>
                <a:cs typeface="Oswald Medium" pitchFamily="34" charset="-120"/>
              </a:rPr>
              <a:t>ANDROID INTENTS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3903565" y="5632847"/>
            <a:ext cx="2416412" cy="1901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00" dirty="0">
                <a:solidFill>
                  <a:srgbClr val="DFE2E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Native action execution · Kotlin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861103" y="3771801"/>
            <a:ext cx="4675368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Oswald Medium" pitchFamily="34" charset="0"/>
                <a:ea typeface="Oswald Medium" pitchFamily="34" charset="-122"/>
                <a:cs typeface="Oswald Medium" pitchFamily="34" charset="-120"/>
              </a:rPr>
              <a:t>OFFICE KIT — OPTIONAL EXTENSION</a:t>
            </a:r>
            <a:endParaRPr lang="en-US" sz="1700" dirty="0"/>
          </a:p>
        </p:txBody>
      </p:sp>
      <p:sp>
        <p:nvSpPr>
          <p:cNvPr id="25" name="Shape 22"/>
          <p:cNvSpPr/>
          <p:nvPr/>
        </p:nvSpPr>
        <p:spPr>
          <a:xfrm>
            <a:off x="6861103" y="4201517"/>
            <a:ext cx="2269374" cy="1428353"/>
          </a:xfrm>
          <a:prstGeom prst="roundRect">
            <a:avLst>
              <a:gd name="adj" fmla="val 533"/>
            </a:avLst>
          </a:prstGeom>
          <a:solidFill>
            <a:srgbClr val="060606"/>
          </a:solidFill>
          <a:ln w="19050">
            <a:solidFill>
              <a:srgbClr val="3E3E3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040783" y="4381202"/>
            <a:ext cx="1910012" cy="301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DFE2E4"/>
                </a:solidFill>
                <a:latin typeface="Oswald Medium" pitchFamily="34" charset="0"/>
                <a:ea typeface="Oswald Medium" pitchFamily="34" charset="-122"/>
                <a:cs typeface="Oswald Medium" pitchFamily="34" charset="-120"/>
              </a:rPr>
              <a:t>PHONE </a:t>
            </a:r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↔</a:t>
            </a:r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DFE2E4"/>
                </a:solidFill>
                <a:latin typeface="Oswald Medium" pitchFamily="34" charset="0"/>
                <a:ea typeface="Oswald Medium" pitchFamily="34" charset="-122"/>
                <a:cs typeface="Oswald Medium" pitchFamily="34" charset="-120"/>
              </a:rPr>
              <a:t> LAPTOP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>
            <a:off x="7040783" y="4819253"/>
            <a:ext cx="1910012" cy="3802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00" dirty="0">
                <a:solidFill>
                  <a:srgbClr val="DFE2E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Demo support &amp; development workflow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9266998" y="4201517"/>
            <a:ext cx="2269473" cy="1428353"/>
          </a:xfrm>
          <a:prstGeom prst="roundRect">
            <a:avLst>
              <a:gd name="adj" fmla="val 533"/>
            </a:avLst>
          </a:prstGeom>
          <a:solidFill>
            <a:srgbClr val="060606"/>
          </a:solidFill>
          <a:ln w="19050">
            <a:solidFill>
              <a:srgbClr val="3E3E3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446679" y="4381202"/>
            <a:ext cx="1910112" cy="5522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DFE2E4"/>
                </a:solidFill>
                <a:latin typeface="Oswald Medium" pitchFamily="34" charset="0"/>
                <a:ea typeface="Oswald Medium" pitchFamily="34" charset="-122"/>
                <a:cs typeface="Oswald Medium" pitchFamily="34" charset="-120"/>
              </a:rPr>
              <a:t>OPTIONAL DASHBOARD</a:t>
            </a:r>
            <a:endParaRPr lang="en-US" sz="1700" dirty="0"/>
          </a:p>
        </p:txBody>
      </p:sp>
      <p:sp>
        <p:nvSpPr>
          <p:cNvPr id="30" name="Text 27"/>
          <p:cNvSpPr/>
          <p:nvPr/>
        </p:nvSpPr>
        <p:spPr>
          <a:xfrm>
            <a:off x="9446679" y="5069979"/>
            <a:ext cx="1910112" cy="3802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00" dirty="0">
                <a:solidFill>
                  <a:srgbClr val="DFE2E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History &amp; extended interaction on larger screen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6861103" y="5783461"/>
            <a:ext cx="4675368" cy="3802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00" dirty="0">
                <a:solidFill>
                  <a:srgbClr val="9FA8A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The phone is the primary interface. The Office Kit extends — it does not define — the experience.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3361348" y="4444901"/>
            <a:ext cx="401627" cy="401638"/>
          </a:xfrm>
          <a:prstGeom prst="roundRect">
            <a:avLst>
              <a:gd name="adj" fmla="val 1897"/>
            </a:avLst>
          </a:prstGeom>
          <a:solidFill>
            <a:srgbClr val="060606"/>
          </a:solidFill>
          <a:ln w="19050">
            <a:solidFill>
              <a:srgbClr val="3E3E3E"/>
            </a:solidFill>
            <a:prstDash val="solid"/>
          </a:ln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61755" y="4545310"/>
            <a:ext cx="200814" cy="200819"/>
          </a:xfrm>
          <a:prstGeom prst="rect">
            <a:avLst/>
          </a:prstGeom>
        </p:spPr>
      </p:pic>
      <p:sp>
        <p:nvSpPr>
          <p:cNvPr id="34" name="Shape 30"/>
          <p:cNvSpPr/>
          <p:nvPr/>
        </p:nvSpPr>
        <p:spPr>
          <a:xfrm>
            <a:off x="3361348" y="5320705"/>
            <a:ext cx="401627" cy="401638"/>
          </a:xfrm>
          <a:prstGeom prst="roundRect">
            <a:avLst>
              <a:gd name="adj" fmla="val 1897"/>
            </a:avLst>
          </a:prstGeom>
          <a:solidFill>
            <a:srgbClr val="060606"/>
          </a:solidFill>
          <a:ln w="19050">
            <a:solidFill>
              <a:srgbClr val="3E3E3E"/>
            </a:solidFill>
            <a:prstDash val="solid"/>
          </a:ln>
        </p:spPr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61755" y="5421114"/>
            <a:ext cx="200814" cy="20081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06537"/>
            <a:ext cx="671297" cy="243979"/>
          </a:xfrm>
          <a:prstGeom prst="roundRect">
            <a:avLst>
              <a:gd name="adj" fmla="val 3123"/>
            </a:avLst>
          </a:prstGeom>
          <a:noFill/>
          <a:ln w="6350">
            <a:solidFill>
              <a:srgbClr val="9FA8A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7814" y="754658"/>
            <a:ext cx="1088204" cy="147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9FA8A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IMPACT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1005086"/>
            <a:ext cx="10868745" cy="552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450" dirty="0">
                <a:solidFill>
                  <a:srgbClr val="FFFFFF"/>
                </a:solidFill>
                <a:latin typeface="Oswald Medium" pitchFamily="34" charset="0"/>
                <a:ea typeface="Oswald Medium" pitchFamily="34" charset="-122"/>
                <a:cs typeface="Oswald Medium" pitchFamily="34" charset="-120"/>
              </a:rPr>
              <a:t>SCREENIQ REMOVES THE GAP BETWEEN SEEING AND DOING.</a:t>
            </a:r>
            <a:endParaRPr lang="en-US" sz="34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915716"/>
            <a:ext cx="5013200" cy="9621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7354" y="2095401"/>
            <a:ext cx="4577640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9FA8AF"/>
                </a:solidFill>
                <a:latin typeface="Oswald Medium" pitchFamily="34" charset="0"/>
                <a:ea typeface="Oswald Medium" pitchFamily="34" charset="-122"/>
                <a:cs typeface="Oswald Medium" pitchFamily="34" charset="-120"/>
              </a:rPr>
              <a:t>BEFORE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917354" y="2508052"/>
            <a:ext cx="4577640" cy="1901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00" dirty="0">
                <a:solidFill>
                  <a:srgbClr val="DFE2E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Information → Manual interpretation → App switching → Action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61475" y="3031430"/>
            <a:ext cx="5013200" cy="936724"/>
          </a:xfrm>
          <a:prstGeom prst="roundRect">
            <a:avLst>
              <a:gd name="adj" fmla="val 813"/>
            </a:avLst>
          </a:prstGeom>
          <a:solidFill>
            <a:srgbClr val="060606"/>
          </a:solidFill>
          <a:ln w="6350">
            <a:solidFill>
              <a:srgbClr val="3E3E3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8456" y="3198416"/>
            <a:ext cx="4679238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DFE2E4"/>
                </a:solidFill>
                <a:latin typeface="Oswald Medium" pitchFamily="34" charset="0"/>
                <a:ea typeface="Oswald Medium" pitchFamily="34" charset="-122"/>
                <a:cs typeface="Oswald Medium" pitchFamily="34" charset="-120"/>
              </a:rPr>
              <a:t>AFTER — SCREENIQ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28456" y="3611066"/>
            <a:ext cx="4679238" cy="1901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00" dirty="0">
                <a:solidFill>
                  <a:srgbClr val="DFE2E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Information → </a:t>
            </a:r>
            <a:pPr algn="l" indent="0" marL="0">
              <a:lnSpc>
                <a:spcPct val="123000"/>
              </a:lnSpc>
              <a:buNone/>
            </a:pPr>
            <a:r>
              <a:rPr lang="en-US" sz="1000" b="1" dirty="0">
                <a:solidFill>
                  <a:srgbClr val="DFE2E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ScreenIQ</a:t>
            </a:r>
            <a:pPr algn="l" indent="0" marL="0">
              <a:lnSpc>
                <a:spcPct val="123000"/>
              </a:lnSpc>
              <a:buNone/>
            </a:pPr>
            <a:r>
              <a:rPr lang="en-US" sz="1000" dirty="0">
                <a:solidFill>
                  <a:srgbClr val="DFE2E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→ Action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61475" y="4320480"/>
            <a:ext cx="2421274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DFE2E4"/>
                </a:solidFill>
                <a:latin typeface="Oswald Medium" pitchFamily="34" charset="0"/>
                <a:ea typeface="Oswald Medium" pitchFamily="34" charset="-122"/>
                <a:cs typeface="Oswald Medium" pitchFamily="34" charset="-120"/>
              </a:rPr>
              <a:t>LESS FRICTION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61475" y="4733131"/>
            <a:ext cx="2421274" cy="1901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00" dirty="0">
                <a:solidFill>
                  <a:srgbClr val="DFE2E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Fewer steps, same result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253401" y="4320480"/>
            <a:ext cx="2421274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DFE2E4"/>
                </a:solidFill>
                <a:latin typeface="Oswald Medium" pitchFamily="34" charset="0"/>
                <a:ea typeface="Oswald Medium" pitchFamily="34" charset="-122"/>
                <a:cs typeface="Oswald Medium" pitchFamily="34" charset="-120"/>
              </a:rPr>
              <a:t>FEWER APP SWITCHES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3253401" y="4733131"/>
            <a:ext cx="2421274" cy="1901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00" dirty="0">
                <a:solidFill>
                  <a:srgbClr val="DFE2E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One gesture, right app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61475" y="5395020"/>
            <a:ext cx="5013200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DFE2E4"/>
                </a:solidFill>
                <a:latin typeface="Oswald Medium" pitchFamily="34" charset="0"/>
                <a:ea typeface="Oswald Medium" pitchFamily="34" charset="-122"/>
                <a:cs typeface="Oswald Medium" pitchFamily="34" charset="-120"/>
              </a:rPr>
              <a:t>PRIVACY-FIRST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61475" y="5807670"/>
            <a:ext cx="5013200" cy="1901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00" dirty="0">
                <a:solidFill>
                  <a:srgbClr val="DFE2E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Local AI, your data stays on device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529621" y="2405261"/>
            <a:ext cx="5013200" cy="762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4800" dirty="0">
                <a:solidFill>
                  <a:srgbClr val="C41E3A"/>
                </a:solidFill>
                <a:latin typeface="Oswald Medium" pitchFamily="34" charset="0"/>
                <a:ea typeface="Oswald Medium" pitchFamily="34" charset="-122"/>
                <a:cs typeface="Oswald Medium" pitchFamily="34" charset="-120"/>
              </a:rPr>
              <a:t>SCREENIQ</a:t>
            </a:r>
            <a:endParaRPr lang="en-US" sz="4800" dirty="0"/>
          </a:p>
        </p:txBody>
      </p:sp>
      <p:sp>
        <p:nvSpPr>
          <p:cNvPr id="18" name="Text 15"/>
          <p:cNvSpPr/>
          <p:nvPr/>
        </p:nvSpPr>
        <p:spPr>
          <a:xfrm>
            <a:off x="6770617" y="3443784"/>
            <a:ext cx="4772203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DFE2E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"Your screen already contains the information.</a:t>
            </a:r>
            <a:endParaRPr lang="en-US" sz="1250" dirty="0"/>
          </a:p>
          <a:p>
            <a:pPr algn="ctr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DFE2E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ScreenIQ gives it a way to act."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529621" y="3320951"/>
            <a:ext cx="19050" cy="721122"/>
          </a:xfrm>
          <a:prstGeom prst="roundRect">
            <a:avLst>
              <a:gd name="adj" fmla="val 49999"/>
            </a:avLst>
          </a:prstGeom>
          <a:solidFill>
            <a:srgbClr val="C41E3A"/>
          </a:solidFill>
          <a:ln/>
        </p:spPr>
      </p:sp>
      <p:sp>
        <p:nvSpPr>
          <p:cNvPr id="20" name="Shape 17"/>
          <p:cNvSpPr/>
          <p:nvPr/>
        </p:nvSpPr>
        <p:spPr>
          <a:xfrm>
            <a:off x="6529621" y="4235748"/>
            <a:ext cx="5013200" cy="19050"/>
          </a:xfrm>
          <a:prstGeom prst="roundRect">
            <a:avLst>
              <a:gd name="adj" fmla="val 49999"/>
            </a:avLst>
          </a:prstGeom>
          <a:solidFill>
            <a:srgbClr val="DFE2E4">
              <a:alpha val="50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6529621" y="4448473"/>
            <a:ext cx="5013200" cy="10733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3000"/>
              </a:lnSpc>
              <a:spcAft>
                <a:spcPts val="950"/>
              </a:spcAft>
              <a:buNone/>
            </a:pPr>
            <a:r>
              <a:rPr lang="en-US" sz="1000" b="1" dirty="0">
                <a:solidFill>
                  <a:srgbClr val="9FA8A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Team</a:t>
            </a:r>
            <a:pPr algn="ctr" indent="0" marL="0">
              <a:lnSpc>
                <a:spcPct val="123000"/>
              </a:lnSpc>
              <a:spcAft>
                <a:spcPts val="950"/>
              </a:spcAft>
              <a:buNone/>
            </a:pPr>
            <a:r>
              <a:rPr lang="en-US" sz="1000" dirty="0">
                <a:solidFill>
                  <a:srgbClr val="9FA8A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· AI · Software · Embedded Systems · Robotics · Computer Vision · IoT · Automation</a:t>
            </a:r>
            <a:endParaRPr lang="en-US" sz="1000" dirty="0"/>
          </a:p>
          <a:p>
            <a:pPr algn="ctr" indent="0" marL="0">
              <a:lnSpc>
                <a:spcPct val="123000"/>
              </a:lnSpc>
              <a:buNone/>
            </a:pPr>
            <a:r>
              <a:rPr lang="en-US" sz="1000" dirty="0">
                <a:solidFill>
                  <a:srgbClr val="9FA8A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Top 10 SRCAS Hackathon · Top 350 Shine Healthcare · International Finalist Ariel Global · 2nd Place SIH 2025 · 2nd Place Shaastra IIT Madras · 1st Place ASME TN-NOVATE · Top 46 / 3,524 NCIIPC-AICTE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42425" y="4121745"/>
            <a:ext cx="2459373" cy="381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3" name="Shape 20"/>
          <p:cNvSpPr/>
          <p:nvPr/>
        </p:nvSpPr>
        <p:spPr>
          <a:xfrm>
            <a:off x="3234351" y="4121745"/>
            <a:ext cx="2459373" cy="381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4" name="Shape 21"/>
          <p:cNvSpPr/>
          <p:nvPr/>
        </p:nvSpPr>
        <p:spPr>
          <a:xfrm>
            <a:off x="642425" y="5196284"/>
            <a:ext cx="5051299" cy="38100"/>
          </a:xfrm>
          <a:prstGeom prst="rect">
            <a:avLst/>
          </a:prstGeom>
          <a:solidFill>
            <a:srgbClr val="C41E3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2026-09-08T19:38:18Z</dcterms:created>
  <dcterms:modified xsi:type="dcterms:W3CDTF">2026-09-08T19:38:18Z</dcterms:modified>
</cp:coreProperties>
</file>